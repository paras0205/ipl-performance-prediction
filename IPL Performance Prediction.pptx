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9" r:id="rId5"/>
    <p:sldId id="264" r:id="rId6"/>
    <p:sldId id="270" r:id="rId7"/>
    <p:sldId id="272" r:id="rId8"/>
    <p:sldId id="273" r:id="rId9"/>
    <p:sldId id="274" r:id="rId10"/>
    <p:sldId id="275" r:id="rId11"/>
    <p:sldId id="277" r:id="rId12"/>
    <p:sldId id="278" r:id="rId13"/>
    <p:sldId id="280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9DC485C-2FB6-459F-A8C4-FC75A9C4E38C}" v="133" dt="2025-11-12T16:00:56.36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aras Dhankhar" userId="22e82ee3a81bcede" providerId="LiveId" clId="{8A91E95D-939C-4660-8D83-E5E8034915A4}"/>
    <pc:docChg chg="undo custSel addSld delSld modSld">
      <pc:chgData name="Paras Dhankhar" userId="22e82ee3a81bcede" providerId="LiveId" clId="{8A91E95D-939C-4660-8D83-E5E8034915A4}" dt="2026-01-06T17:26:00.801" v="978" actId="21"/>
      <pc:docMkLst>
        <pc:docMk/>
      </pc:docMkLst>
      <pc:sldChg chg="addSp delSp modSp mod">
        <pc:chgData name="Paras Dhankhar" userId="22e82ee3a81bcede" providerId="LiveId" clId="{8A91E95D-939C-4660-8D83-E5E8034915A4}" dt="2026-01-06T17:26:00.801" v="978" actId="21"/>
        <pc:sldMkLst>
          <pc:docMk/>
          <pc:sldMk cId="196747136" sldId="256"/>
        </pc:sldMkLst>
        <pc:spChg chg="add del mod">
          <ac:chgData name="Paras Dhankhar" userId="22e82ee3a81bcede" providerId="LiveId" clId="{8A91E95D-939C-4660-8D83-E5E8034915A4}" dt="2026-01-06T17:26:00.801" v="978" actId="21"/>
          <ac:spMkLst>
            <pc:docMk/>
            <pc:sldMk cId="196747136" sldId="256"/>
            <ac:spMk id="8" creationId="{1F49E69D-35E1-19A2-42B6-181941366238}"/>
          </ac:spMkLst>
        </pc:spChg>
      </pc:sldChg>
      <pc:sldChg chg="addSp modSp new mod">
        <pc:chgData name="Paras Dhankhar" userId="22e82ee3a81bcede" providerId="LiveId" clId="{8A91E95D-939C-4660-8D83-E5E8034915A4}" dt="2026-01-06T17:25:43.582" v="977" actId="1035"/>
        <pc:sldMkLst>
          <pc:docMk/>
          <pc:sldMk cId="4162811512" sldId="270"/>
        </pc:sldMkLst>
        <pc:spChg chg="add mod">
          <ac:chgData name="Paras Dhankhar" userId="22e82ee3a81bcede" providerId="LiveId" clId="{8A91E95D-939C-4660-8D83-E5E8034915A4}" dt="2026-01-06T17:25:43.582" v="977" actId="1035"/>
          <ac:spMkLst>
            <pc:docMk/>
            <pc:sldMk cId="4162811512" sldId="270"/>
            <ac:spMk id="5" creationId="{C3538608-DFF0-0F68-A411-8B41A349AA47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F18380-1B73-905E-CA19-BCA20236850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9F240A8-BAD7-4602-427A-60E02F207A3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04F232-A7A1-993F-1578-720376BBCC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A9BC8D-8B88-45A6-BEB7-3F56EAE6E4CE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D2EA32-2AFA-EFC5-F1A8-9FAFEE5E6F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79B086-B664-9499-97FC-989C9890CB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F26E4A-8CB1-4CD3-B6AF-644124A32E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98149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ECD000-876E-EF25-1821-ED12BE492F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D57958-DAD1-5B55-35D9-4B40677FC2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1DFB93-6519-52E5-81F0-2F774324B4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A9BC8D-8B88-45A6-BEB7-3F56EAE6E4CE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74A597-001D-C848-3C67-04C80BB5C7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6C6BD2-6D84-3169-08C8-9FE30FEF60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F26E4A-8CB1-4CD3-B6AF-644124A32E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24297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63FA3F-8F73-5388-1ABC-65363D2FD6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C9FA60D-85C7-F7B2-3D34-FD8EBDFC5B3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B6BF394-3B41-0701-BC0A-D37D149160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A9BC8D-8B88-45A6-BEB7-3F56EAE6E4CE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162C22-00F4-8EB8-9966-C73484947F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84D5FC5-2ACA-4395-2C02-2C7DDEA0C0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F26E4A-8CB1-4CD3-B6AF-644124A32E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92652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7D6159-DB25-1231-F08B-1BE33620C0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1EA5FD-CC95-EEF0-98A3-B27A6B320E7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0C58893-B489-2659-6A02-F5268460DD8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6B2678F-3BD7-A923-8403-851697BD72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A9BC8D-8B88-45A6-BEB7-3F56EAE6E4CE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2D2F5B-71AC-CF84-F69D-913D359E48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2B8CDD5-3CFB-1E0B-A13A-245358BA61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F26E4A-8CB1-4CD3-B6AF-644124A32E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350497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EA3A5B-743E-BC9B-75A9-C4465AC35A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D52A28-04B8-027D-BF88-97E703548E0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1896EE1-408A-27A3-7F78-C43383E13C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FDCEB71-A23B-2BEA-F668-2E8A04AC818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D30C338-6614-6096-FDF8-435C8006959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8961FC8-052F-9FA9-AE64-74734169BB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A9BC8D-8B88-45A6-BEB7-3F56EAE6E4CE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D4A6EA8-6BDB-0E5F-5885-1136C0C077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BECE88E-8155-D005-7A93-ADCCA84E41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F26E4A-8CB1-4CD3-B6AF-644124A32E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04813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BCE2BD-4920-965A-2A9D-17AB89C92F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46D8E00-4BB6-61DE-DB2D-1E4D4FD7C5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A9BC8D-8B88-45A6-BEB7-3F56EAE6E4CE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A25D0CA-6CA1-3280-6670-E4C311BB16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45BEA1A-450B-AD69-8733-829E442BB1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F26E4A-8CB1-4CD3-B6AF-644124A32E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48547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4B6C166-8E4B-3F21-37DE-EE08D2235D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A9BC8D-8B88-45A6-BEB7-3F56EAE6E4CE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B330BCB-C8A7-0D93-BF12-0C66643958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CD99AEF-DC94-3D3C-2AA4-90B3894915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F26E4A-8CB1-4CD3-B6AF-644124A32E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73492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BB4DF9-BB74-BE38-B238-90E53EEB87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6583FD-EFEF-8367-02E5-C4EC2A9E6C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19283DC-6833-0B6E-FAAC-E52BCF5923A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80F3E41-92B7-D21B-B031-ED92BDF1C3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A9BC8D-8B88-45A6-BEB7-3F56EAE6E4CE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11246E9-24B6-EB26-02EE-29D61BA13A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1C67DB7-EF0B-31D9-E57D-5979EF1AA7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F26E4A-8CB1-4CD3-B6AF-644124A32E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79339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3151D1-46C3-1E79-FF42-452CA6C17C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C69F791-0C63-44D1-3B62-AD044D28231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9313FD3-3E0C-8904-FFA1-A88BF0BAA0A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263651B-E8C1-0109-2E2F-6F3257F554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A9BC8D-8B88-45A6-BEB7-3F56EAE6E4CE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47AE528-FE28-0D88-79F7-03A4E289D3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0083248-5CF1-AC1E-227A-4A7ED70549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F26E4A-8CB1-4CD3-B6AF-644124A32E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60603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658DEB-58CD-6C5F-8D21-0C17AFA775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6DE278D-84EB-E985-688D-FFE83A10295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91569A-0346-6138-EDF4-626F941293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A9BC8D-8B88-45A6-BEB7-3F56EAE6E4CE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EBB3B3-F600-E3BC-0ADD-9EA70A0AEB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CCECA0-D8C2-97F5-B8CC-2160DFF9BF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F26E4A-8CB1-4CD3-B6AF-644124A32E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7255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8A77D81-6C4B-F821-9EC7-94D050878A4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EE5455E-AC20-012B-B00E-30272C51B3C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13AE6D-3FFC-2BD2-87C5-356742DE9A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A9BC8D-8B88-45A6-BEB7-3F56EAE6E4CE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DD826F-9CAD-5D19-35B1-A19844900A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A2F3D9-731F-77DE-9E50-27D2A35341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F26E4A-8CB1-4CD3-B6AF-644124A32E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81510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92D5FA4-373A-9D5D-41F3-5E5B478386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03D5BBE-A5BF-6671-C309-974E21E465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4532FF-92F5-CDE8-35D4-E36A03816B7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5A9BC8D-8B88-45A6-BEB7-3F56EAE6E4CE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809AF1-1389-69BB-5308-1E06C379E35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F295678-484C-5FA2-F755-3EE6CED2BBC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6F26E4A-8CB1-4CD3-B6AF-644124A32E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559049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kaggle.com/datasets/patrickb1912/ipl-complete-dataset-20082020?select=matches.csv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1D6348-5C7F-E798-02B7-6F8AA2458A0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849950"/>
            <a:ext cx="9144000" cy="2387600"/>
          </a:xfrm>
        </p:spPr>
        <p:txBody>
          <a:bodyPr>
            <a:normAutofit/>
          </a:bodyPr>
          <a:lstStyle/>
          <a:p>
            <a:r>
              <a:rPr 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IPL PERFORMANCE ANALYSIS</a:t>
            </a:r>
          </a:p>
        </p:txBody>
      </p:sp>
    </p:spTree>
    <p:extLst>
      <p:ext uri="{BB962C8B-B14F-4D97-AF65-F5344CB8AC3E}">
        <p14:creationId xmlns:p14="http://schemas.microsoft.com/office/powerpoint/2010/main" val="196747136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2000">
        <p15:prstTrans prst="curtains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5B283A-F297-46DC-EBBB-FAD7BA571B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Introduction</a:t>
            </a:r>
            <a:endParaRPr lang="en-US" sz="3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C8A539-541A-8380-5BA5-7DB253C791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811149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Indian Premier League (IPL) is one of the most popular and competitive T20 cricket leagues in the world, known for its thrilling matches, star players, and massive fan base.</a:t>
            </a:r>
            <a:b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This project analyzes historical IPL match data to uncover meaningful patterns, performance trends, and predictive insights using Machine Learning techniques.</a:t>
            </a:r>
          </a:p>
          <a:p>
            <a:pPr marL="0" indent="0">
              <a:buNone/>
            </a:pP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Project Focus Areas</a:t>
            </a:r>
            <a:r>
              <a:rPr lang="en-US" sz="1800" b="1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:</a:t>
            </a:r>
          </a:p>
          <a:p>
            <a:pPr marL="0" indent="0">
              <a:buNone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📊Trends and patterns across IPL seasons</a:t>
            </a:r>
          </a:p>
          <a:p>
            <a:pPr marL="0" indent="0">
              <a:buNone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🏏Team and player performance metrics</a:t>
            </a:r>
          </a:p>
          <a:p>
            <a:pPr marL="0" indent="0">
              <a:buNone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🏟️Impact of toss, venue, and match conditions on results</a:t>
            </a:r>
          </a:p>
          <a:p>
            <a:pPr marL="0" indent="0">
              <a:buNone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💡Insights derived through Exploratory Data Analysis (EDA), Visualization and Machine Learning</a:t>
            </a:r>
          </a:p>
          <a:p>
            <a:endParaRPr lang="en-US" sz="1800" dirty="0">
              <a:latin typeface="Times New Roman" panose="02020603050405020304" pitchFamily="18" charset="0"/>
              <a:ea typeface="Tahom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7789381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7D6E4E-ACFA-4BC8-2551-ED7FCA187D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Data Collection</a:t>
            </a:r>
            <a:endParaRPr lang="en-US" sz="3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90D15E-44A3-6463-FA3E-A569289FAD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📂</a:t>
            </a: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Source of Data:</a:t>
            </a:r>
            <a:b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dataset used in this project was collected from publicly available IPL match records, primarily sourced from:</a:t>
            </a:r>
          </a:p>
          <a:p>
            <a:pPr marL="0" indent="0">
              <a:buNone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🔗Kaggle: 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  <a:hlinkClick r:id="rId2"/>
              </a:rPr>
              <a:t>IPL Complete Dataset (2008-2024)</a:t>
            </a: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📊</a:t>
            </a: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Dataset Details:</a:t>
            </a: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📅 </a:t>
            </a: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Seasons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2008 to 2024</a:t>
            </a:r>
          </a:p>
          <a:p>
            <a:pPr marL="0" indent="0">
              <a:buNone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🏏 </a:t>
            </a: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Matches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Over 1095 matches</a:t>
            </a:r>
          </a:p>
          <a:p>
            <a:pPr marL="0" indent="0">
              <a:buNone/>
            </a:pPr>
            <a:r>
              <a:rPr lang="en-US" sz="1800" b="1" dirty="0"/>
              <a:t>       📈</a:t>
            </a: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Format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CSV files containing structured match-level data</a:t>
            </a:r>
          </a:p>
          <a:p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4831564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0E62B3-E9E9-10DD-104F-AD114C8143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IN" sz="3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Data Preprocessing</a:t>
            </a:r>
            <a:endParaRPr lang="en-US" sz="3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27B4AB-F000-9CA7-5DC4-399455F963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800" dirty="0"/>
              <a:t>🧩</a:t>
            </a: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Handling Missing Values: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Filled missing entries in columns like method, </a:t>
            </a:r>
            <a:r>
              <a:rPr lang="en-US" sz="1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target_runs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and </a:t>
            </a:r>
            <a:r>
              <a:rPr lang="en-US" sz="1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result_margin</a:t>
            </a: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with default values.</a:t>
            </a:r>
            <a:endParaRPr lang="en-US" sz="1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sz="1800" dirty="0"/>
              <a:t>🧹</a:t>
            </a: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Cleaning &amp; Standardization: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Fixed inconsistent team names (e.g., </a:t>
            </a: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Delhi Daredevils → Delhi Capitals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Renamed columns for clarity</a:t>
            </a:r>
            <a:endParaRPr lang="en-US" sz="1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sz="1800" dirty="0"/>
              <a:t>⚙️</a:t>
            </a: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Feature Engineering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Created </a:t>
            </a: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season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column from year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Added </a:t>
            </a:r>
            <a:r>
              <a:rPr lang="en-US" sz="1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match_time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(Afternoon/Evening) based on duplicate dates</a:t>
            </a:r>
          </a:p>
          <a:p>
            <a:pPr marL="0" indent="0">
              <a:buNone/>
            </a:pP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en-US" sz="1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1578143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E311E5-56DA-89F6-46D0-C89DA33D94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IN" sz="3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Exploratory Data Analysis (EDA)</a:t>
            </a:r>
            <a:endParaRPr lang="en-US" sz="3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45B3CF-4E74-B5A6-8C4F-44B119BBC4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📅 </a:t>
            </a: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Season-Based Trends</a:t>
            </a: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Total matches per season (2008–2024)</a:t>
            </a:r>
          </a:p>
          <a:p>
            <a:pPr marL="0" indent="0">
              <a:buNone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🏆 </a:t>
            </a: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Team Performance</a:t>
            </a: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Most successful teams based on total wins</a:t>
            </a:r>
          </a:p>
          <a:p>
            <a:pPr marL="0" indent="0">
              <a:buNone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🪙 </a:t>
            </a: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Toss Impact</a:t>
            </a: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Analyzed how toss decisions (bat/field) affect winning probability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Teams fielding first win ~68% of matches</a:t>
            </a:r>
          </a:p>
          <a:p>
            <a:pPr marL="0" indent="0">
              <a:buNone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🏟️ </a:t>
            </a: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Venue Analysis</a:t>
            </a: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Wankhede, Eden Gardens and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Chinnaswamy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among most frequent host venues</a:t>
            </a:r>
          </a:p>
          <a:p>
            <a:pPr marL="0" indent="0">
              <a:buNone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👑 </a:t>
            </a: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Player Insights</a:t>
            </a: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Top “Player of the Match” award winners identified</a:t>
            </a:r>
          </a:p>
          <a:p>
            <a:pPr marL="0" indent="0">
              <a:buNone/>
            </a:pP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A8D9ABF-2BE7-222D-EE31-37A2A77B83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4960" y="1769745"/>
            <a:ext cx="3418840" cy="28062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702936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350E87-8643-888E-FE2A-EA42B5CC43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Data Visualization</a:t>
            </a:r>
            <a:endParaRPr lang="en-US" sz="3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E5BEDAA-E6BE-5132-5827-C2A6ACD9AD78}"/>
              </a:ext>
            </a:extLst>
          </p:cNvPr>
          <p:cNvSpPr/>
          <p:nvPr/>
        </p:nvSpPr>
        <p:spPr>
          <a:xfrm>
            <a:off x="254000" y="1595120"/>
            <a:ext cx="3779520" cy="2367280"/>
          </a:xfrm>
          <a:prstGeom prst="rect">
            <a:avLst/>
          </a:prstGeom>
          <a:blipFill dpi="0"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B8F5F78-A141-C896-C071-1927851061B4}"/>
              </a:ext>
            </a:extLst>
          </p:cNvPr>
          <p:cNvSpPr/>
          <p:nvPr/>
        </p:nvSpPr>
        <p:spPr>
          <a:xfrm>
            <a:off x="254000" y="4171632"/>
            <a:ext cx="3779520" cy="2367280"/>
          </a:xfrm>
          <a:prstGeom prst="rect">
            <a:avLst/>
          </a:prstGeom>
          <a:blipFill dpi="0"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3538608-DFF0-0F68-A411-8B41A349AA47}"/>
              </a:ext>
            </a:extLst>
          </p:cNvPr>
          <p:cNvSpPr/>
          <p:nvPr/>
        </p:nvSpPr>
        <p:spPr>
          <a:xfrm>
            <a:off x="4206240" y="1595120"/>
            <a:ext cx="3779520" cy="2367280"/>
          </a:xfrm>
          <a:prstGeom prst="rect">
            <a:avLst/>
          </a:prstGeom>
          <a:blipFill dpi="0"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085F2C2-5F0E-0664-02A3-8B89BD7398B2}"/>
              </a:ext>
            </a:extLst>
          </p:cNvPr>
          <p:cNvSpPr/>
          <p:nvPr/>
        </p:nvSpPr>
        <p:spPr>
          <a:xfrm>
            <a:off x="4206240" y="4171632"/>
            <a:ext cx="3779520" cy="2367280"/>
          </a:xfrm>
          <a:prstGeom prst="rect">
            <a:avLst/>
          </a:prstGeom>
          <a:blipFill dpi="0"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E376BA0-A2E8-89F2-C497-103A5EEC44D5}"/>
              </a:ext>
            </a:extLst>
          </p:cNvPr>
          <p:cNvSpPr/>
          <p:nvPr/>
        </p:nvSpPr>
        <p:spPr>
          <a:xfrm>
            <a:off x="8158480" y="1595120"/>
            <a:ext cx="3779520" cy="2367280"/>
          </a:xfrm>
          <a:prstGeom prst="rect">
            <a:avLst/>
          </a:prstGeom>
          <a:blipFill dpi="0"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3D8DC44-DE14-A714-4BE5-285EB3A0A6DF}"/>
              </a:ext>
            </a:extLst>
          </p:cNvPr>
          <p:cNvSpPr/>
          <p:nvPr/>
        </p:nvSpPr>
        <p:spPr>
          <a:xfrm>
            <a:off x="8158480" y="4171632"/>
            <a:ext cx="3779520" cy="2367280"/>
          </a:xfrm>
          <a:prstGeom prst="rect">
            <a:avLst/>
          </a:prstGeom>
          <a:blipFill dpi="0"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281151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5DC259-0E82-00D2-3345-0C14E71B73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Machine Learning 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1EDA17-3396-20C0-5B70-7F215D9950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Machine Learning (ML)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enables systems to identify patterns from data and make intelligent predictions.</a:t>
            </a:r>
          </a:p>
          <a:p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 this project, ML is used to </a:t>
            </a: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predict the winning IPL team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based on historical match data (2008–2024).</a:t>
            </a:r>
          </a:p>
          <a:p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</a:t>
            </a: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Supervised Classification Model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is applied to predict outcomes using match-related features.</a:t>
            </a:r>
          </a:p>
          <a:p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chosen algorithm — </a:t>
            </a: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Random Forest Classifier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— provides high accuracy and interpretability for categorical data.</a:t>
            </a:r>
          </a:p>
        </p:txBody>
      </p:sp>
    </p:spTree>
    <p:extLst>
      <p:ext uri="{BB962C8B-B14F-4D97-AF65-F5344CB8AC3E}">
        <p14:creationId xmlns:p14="http://schemas.microsoft.com/office/powerpoint/2010/main" val="127840088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545748-7064-FFF0-2F54-680870B94E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Feature Encoding &amp; Data Transformation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B2029F-B661-95CF-467F-B917A687B0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00000"/>
              </a:lnSpc>
              <a:buFont typeface="Wingdings" panose="05000000000000000000" pitchFamily="2" charset="2"/>
              <a:buChar char="q"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prepare categorical data for ML modeling, </a:t>
            </a: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Label Encoding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from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sklearn.preprocessing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was applied.</a:t>
            </a:r>
          </a:p>
          <a:p>
            <a:pPr>
              <a:lnSpc>
                <a:spcPct val="100000"/>
              </a:lnSpc>
              <a:buFont typeface="Wingdings" panose="05000000000000000000" pitchFamily="2" charset="2"/>
              <a:buChar char="q"/>
            </a:pP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Encoded Columns: </a:t>
            </a:r>
          </a:p>
          <a:p>
            <a:pPr lvl="1">
              <a:lnSpc>
                <a:spcPct val="100000"/>
              </a:lnSpc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team1, team2, winner,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toss_winner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venue  </a:t>
            </a:r>
          </a:p>
          <a:p>
            <a:pPr>
              <a:lnSpc>
                <a:spcPct val="100000"/>
              </a:lnSpc>
              <a:buFont typeface="Wingdings" panose="05000000000000000000" pitchFamily="2" charset="2"/>
              <a:buChar char="q"/>
            </a:pP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Mapped Feature: 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lvl="1">
              <a:lnSpc>
                <a:spcPct val="100000"/>
              </a:lnSpc>
            </a:pP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toss_decision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→ {'bat': 1, 'field': 0}</a:t>
            </a:r>
          </a:p>
          <a:p>
            <a:pPr marL="0" indent="0">
              <a:lnSpc>
                <a:spcPct val="100000"/>
              </a:lnSpc>
              <a:buNone/>
            </a:pP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32E18E3-A559-F627-5DDD-E88A5BE8D4E3}"/>
              </a:ext>
            </a:extLst>
          </p:cNvPr>
          <p:cNvSpPr/>
          <p:nvPr/>
        </p:nvSpPr>
        <p:spPr>
          <a:xfrm>
            <a:off x="7132320" y="1825625"/>
            <a:ext cx="4704080" cy="4137660"/>
          </a:xfrm>
          <a:prstGeom prst="rect">
            <a:avLst/>
          </a:prstGeom>
          <a:blipFill dpi="0"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912670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9647C8-384E-B333-A099-B998449779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Model Evaluation &amp; Performance Metrics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268C10-96FB-8DB2-C93D-4A5743C76A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q"/>
            </a:pP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Evaluated using:</a:t>
            </a: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lvl="1" indent="0">
              <a:buNone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🎯 </a:t>
            </a: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Accuracy Score: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Percentage of correctly predicted outcomes</a:t>
            </a:r>
          </a:p>
          <a:p>
            <a:pPr marL="457200" lvl="1" indent="0">
              <a:buNone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🔢 </a:t>
            </a: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Confusion Matrix: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Shows correct vs. incorrect team predictions</a:t>
            </a:r>
          </a:p>
          <a:p>
            <a:pPr marL="457200" lvl="1" indent="0">
              <a:buNone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📋 </a:t>
            </a: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Classification Report: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Precision, recall &amp; F1-score of model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Model Summary:</a:t>
            </a: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Algorithm: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Random Forest Classifier</a:t>
            </a:r>
          </a:p>
          <a:p>
            <a:pPr lvl="1"/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Accuracy</a:t>
            </a:r>
            <a:r>
              <a:rPr lang="en-US" sz="1800" b="1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r>
              <a:rPr lang="en-US" sz="1800">
                <a:latin typeface="Times New Roman" panose="02020603050405020304" pitchFamily="18" charset="0"/>
                <a:cs typeface="Times New Roman" panose="02020603050405020304" pitchFamily="18" charset="0"/>
              </a:rPr>
              <a:t> ~65%</a:t>
            </a: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Insights:</a:t>
            </a: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2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Moderate performance due to match unpredictability</a:t>
            </a:r>
          </a:p>
          <a:p>
            <a:pPr lvl="2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Team, venue &amp; toss features moderately influence outcomes</a:t>
            </a:r>
          </a:p>
          <a:p>
            <a:pPr marL="0" indent="0">
              <a:buNone/>
            </a:pP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51F8B83-FEA4-66F0-DB95-15886058FDEA}"/>
              </a:ext>
            </a:extLst>
          </p:cNvPr>
          <p:cNvSpPr/>
          <p:nvPr/>
        </p:nvSpPr>
        <p:spPr>
          <a:xfrm>
            <a:off x="8006080" y="2333624"/>
            <a:ext cx="3576320" cy="2858135"/>
          </a:xfrm>
          <a:prstGeom prst="rect">
            <a:avLst/>
          </a:prstGeom>
          <a:blipFill dpi="0"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050469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4DAB23-C4D1-5B62-AEB3-4ACEECE3B9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Key Insights &amp; Findings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5590D2-6C63-C544-60D8-F1F5EA3A8C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📊 From Data Analysis (EDA)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IPL matches </a:t>
            </a: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increased steadily (2008–2024)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with new teams and venues.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Teams </a:t>
            </a: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fielding first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won about </a:t>
            </a: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68%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of matches → chasing advantage.</a:t>
            </a:r>
          </a:p>
          <a:p>
            <a:pPr lvl="1"/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Mumbai Indians (MI)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&amp; </a:t>
            </a: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Chennai Super Kings (CSK)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emerged as the </a:t>
            </a: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most consistent teams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Venues like </a:t>
            </a: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Wankhede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and </a:t>
            </a: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Eden Gardens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hosted most matches &amp; often favored chasing sides.</a:t>
            </a:r>
          </a:p>
          <a:p>
            <a:pPr lvl="1"/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Top players: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AB de Villiers, Chris Gayle, Rohit Sharma lead </a:t>
            </a:r>
            <a:r>
              <a:rPr lang="en-US" sz="1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Player of the Match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awards.</a:t>
            </a:r>
          </a:p>
          <a:p>
            <a:pPr marL="0" indent="0">
              <a:buNone/>
            </a:pP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🤖 From Machine Learning Model</a:t>
            </a:r>
          </a:p>
          <a:p>
            <a:pPr lvl="1"/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Algorithm: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Random Forest Classifier</a:t>
            </a:r>
          </a:p>
          <a:p>
            <a:pPr lvl="1"/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Accuracy: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~54.8%</a:t>
            </a:r>
          </a:p>
          <a:p>
            <a:pPr lvl="1"/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Key Influencing Features: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Toss Decision, Venue, and Teams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Moderate accuracy due to cricket’s unpredictable nature, but reveals </a:t>
            </a: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strategic patterns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behind outcomes.</a:t>
            </a:r>
          </a:p>
          <a:p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0376839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18F472-4588-C4CB-8027-9D82D7B9FB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Challenges &amp; Solutions</a:t>
            </a:r>
            <a:endParaRPr lang="en-US" sz="3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ABE7A1-1A5C-7E51-1E04-D975D94B7B7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⚙️ Challenges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Missing &amp; inconsistent data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Team name variations (</a:t>
            </a:r>
            <a:r>
              <a:rPr lang="en-US" sz="1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Delhi Daredevils → Delhi Capitals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Handling multiple categorical features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Moderate model accuracy (~55%)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imbalance among teams</a:t>
            </a:r>
          </a:p>
          <a:p>
            <a:pPr lvl="1"/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483EA8F-C684-067F-31B3-CA4025ADFD67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💡 Solutions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Cleaned &amp; standardized dataset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Applied </a:t>
            </a: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Label Encoding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for categorical data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Used </a:t>
            </a: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Random Forest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for better performance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Added new features (</a:t>
            </a:r>
            <a:r>
              <a:rPr lang="en-US" sz="18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toss_won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18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match_time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Evaluated using </a:t>
            </a: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Accuracy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Precision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and </a:t>
            </a: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F1-score</a:t>
            </a: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9658851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F79709-9496-CD28-5C3E-3B56F6AD22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Conclusion &amp; Future Scope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EACA07-69BC-9D33-212E-E968733B4C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✅ Conclusion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Analyzed </a:t>
            </a: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1,095 IPL matches (2008–2024)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using Python &amp; ML.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Discovered </a:t>
            </a: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key performance patterns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through EDA.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Built a </a:t>
            </a: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Random Forest model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with ~55% accuracy.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Showed how </a:t>
            </a: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analytics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can extract insights from sports data.</a:t>
            </a:r>
            <a:b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🚀 Future Scope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Add </a:t>
            </a: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player-level data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for deeper predictions.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Test </a:t>
            </a: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advanced models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XGBoost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Neural Networks).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Create a </a:t>
            </a: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real-time IPL analytics dashboard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9803955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F3BAD31D-37F9-AC97-439D-9C1F0D4EFFD8}"/>
              </a:ext>
            </a:extLst>
          </p:cNvPr>
          <p:cNvSpPr/>
          <p:nvPr/>
        </p:nvSpPr>
        <p:spPr>
          <a:xfrm>
            <a:off x="3997244" y="2967335"/>
            <a:ext cx="4908716" cy="1015663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6000" b="1" cap="none" spc="0" dirty="0">
                <a:ln w="12700">
                  <a:solidFill>
                    <a:schemeClr val="accent1"/>
                  </a:solidFill>
                  <a:prstDash val="solid"/>
                </a:ln>
                <a:pattFill prst="pct50">
                  <a:fgClr>
                    <a:schemeClr val="accent1"/>
                  </a:fgClr>
                  <a:bgClr>
                    <a:schemeClr val="accent1">
                      <a:lumMod val="20000"/>
                      <a:lumOff val="80000"/>
                    </a:schemeClr>
                  </a:bgClr>
                </a:pattFill>
                <a:effectLst>
                  <a:outerShdw dist="38100" dir="2640000" algn="bl" rotWithShape="0">
                    <a:schemeClr val="accent1"/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56749439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267</TotalTime>
  <Words>793</Words>
  <Application>Microsoft Office PowerPoint</Application>
  <PresentationFormat>Widescreen</PresentationFormat>
  <Paragraphs>98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20" baseType="lpstr">
      <vt:lpstr>Arial</vt:lpstr>
      <vt:lpstr>Calibri</vt:lpstr>
      <vt:lpstr>Calibri Light</vt:lpstr>
      <vt:lpstr>Tahoma</vt:lpstr>
      <vt:lpstr>Times New Roman</vt:lpstr>
      <vt:lpstr>Wingdings</vt:lpstr>
      <vt:lpstr>Office Theme</vt:lpstr>
      <vt:lpstr>IPL PERFORMANCE ANALYSIS</vt:lpstr>
      <vt:lpstr>Introduction</vt:lpstr>
      <vt:lpstr>Data Collection</vt:lpstr>
      <vt:lpstr>Data Preprocessing</vt:lpstr>
      <vt:lpstr>Exploratory Data Analysis (EDA)</vt:lpstr>
      <vt:lpstr>Data Visualization</vt:lpstr>
      <vt:lpstr>Machine Learning Overview</vt:lpstr>
      <vt:lpstr>Feature Encoding &amp; Data Transformation</vt:lpstr>
      <vt:lpstr>Model Evaluation &amp; Performance Metrics</vt:lpstr>
      <vt:lpstr>Key Insights &amp; Findings</vt:lpstr>
      <vt:lpstr>Challenges &amp; Solutions</vt:lpstr>
      <vt:lpstr>Conclusion &amp; Future Scope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Paras Dhankhar</dc:creator>
  <cp:lastModifiedBy>Paras Dhankhar</cp:lastModifiedBy>
  <cp:revision>2</cp:revision>
  <dcterms:created xsi:type="dcterms:W3CDTF">2025-08-07T05:17:03Z</dcterms:created>
  <dcterms:modified xsi:type="dcterms:W3CDTF">2026-05-16T18:38:23Z</dcterms:modified>
</cp:coreProperties>
</file>